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Consommation réelle (MWh)</c:v>
                </c:pt>
              </c:strCache>
            </c:strRef>
          </c:tx>
          <c:spPr>
            <a:solidFill>
              <a:srgbClr val="0070CE"/>
            </a:solidFill>
            <a:ln w="25400" cap="flat">
              <a:solidFill>
                <a:srgbClr val="0070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0CE"/>
              </a:solidFill>
              <a:ln w="9525" cap="flat">
                <a:solidFill>
                  <a:srgbClr val="0070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26/01 15h</c:v>
                  </c:pt>
                  <c:pt idx="1">
                    <c:v>26/01 19h</c:v>
                  </c:pt>
                  <c:pt idx="2">
                    <c:v>26/01 23h</c:v>
                  </c:pt>
                  <c:pt idx="3">
                    <c:v>27/01 03h</c:v>
                  </c:pt>
                  <c:pt idx="4">
                    <c:v>27/01 07h</c:v>
                  </c:pt>
                  <c:pt idx="5">
                    <c:v>27/01 11h</c:v>
                  </c:pt>
                  <c:pt idx="6">
                    <c:v>27/01 15h</c:v>
                  </c:pt>
                  <c:pt idx="7">
                    <c:v>27/01 19h</c:v>
                  </c:pt>
                  <c:pt idx="8">
                    <c:v>27/01 23h</c:v>
                  </c:pt>
                  <c:pt idx="9">
                    <c:v>28/01 03h</c:v>
                  </c:pt>
                  <c:pt idx="10">
                    <c:v>28/01 07h</c:v>
                  </c:pt>
                  <c:pt idx="11">
                    <c:v>28/01 11h</c:v>
                  </c:pt>
                  <c:pt idx="12">
                    <c:v>28/01 15h</c:v>
                  </c:pt>
                  <c:pt idx="13">
                    <c:v>28/01 19h</c:v>
                  </c:pt>
                  <c:pt idx="14">
                    <c:v>28/01 23h</c:v>
                  </c:pt>
                  <c:pt idx="15">
                    <c:v>29/01 03h</c:v>
                  </c:pt>
                  <c:pt idx="16">
                    <c:v>29/01 07h</c:v>
                  </c:pt>
                  <c:pt idx="17">
                    <c:v>29/01 11h</c:v>
                  </c:pt>
                  <c:pt idx="18">
                    <c:v>29/01 15h</c:v>
                  </c:pt>
                  <c:pt idx="19">
                    <c:v>29/01 19h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29472</c:v>
                </c:pt>
                <c:pt idx="1">
                  <c:v>27496</c:v>
                </c:pt>
                <c:pt idx="2">
                  <c:v>34275</c:v>
                </c:pt>
                <c:pt idx="3">
                  <c:v>40531</c:v>
                </c:pt>
                <c:pt idx="4">
                  <c:v>44257</c:v>
                </c:pt>
                <c:pt idx="5">
                  <c:v>35416</c:v>
                </c:pt>
                <c:pt idx="6">
                  <c:v>28048</c:v>
                </c:pt>
                <c:pt idx="7">
                  <c:v>25769</c:v>
                </c:pt>
                <c:pt idx="8">
                  <c:v>32875</c:v>
                </c:pt>
                <c:pt idx="9">
                  <c:v>41783</c:v>
                </c:pt>
                <c:pt idx="10">
                  <c:v>42787</c:v>
                </c:pt>
                <c:pt idx="11">
                  <c:v>36926</c:v>
                </c:pt>
                <c:pt idx="12">
                  <c:v>28800</c:v>
                </c:pt>
                <c:pt idx="13">
                  <c:v>28777</c:v>
                </c:pt>
                <c:pt idx="14">
                  <c:v>30856</c:v>
                </c:pt>
                <c:pt idx="15">
                  <c:v>39879</c:v>
                </c:pt>
                <c:pt idx="16">
                  <c:v>43999</c:v>
                </c:pt>
                <c:pt idx="17">
                  <c:v>37560</c:v>
                </c:pt>
                <c:pt idx="18">
                  <c:v>28968</c:v>
                </c:pt>
                <c:pt idx="19">
                  <c:v>28432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48000"/>
          <c:min val="2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Réel</c:v>
                </c:pt>
              </c:strCache>
            </c:strRef>
          </c:tx>
          <c:spPr>
            <a:solidFill>
              <a:srgbClr val="00A0DF"/>
            </a:solidFill>
            <a:ln w="25400" cap="flat">
              <a:solidFill>
                <a:srgbClr val="00A0D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0DF"/>
              </a:solidFill>
              <a:ln w="9525" cap="flat">
                <a:solidFill>
                  <a:srgbClr val="00A0D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26/01 15h</c:v>
                  </c:pt>
                  <c:pt idx="1">
                    <c:v>26/01 19h</c:v>
                  </c:pt>
                  <c:pt idx="2">
                    <c:v>26/01 23h</c:v>
                  </c:pt>
                  <c:pt idx="3">
                    <c:v>27/01 03h</c:v>
                  </c:pt>
                  <c:pt idx="4">
                    <c:v>27/01 07h</c:v>
                  </c:pt>
                  <c:pt idx="5">
                    <c:v>27/01 11h</c:v>
                  </c:pt>
                  <c:pt idx="6">
                    <c:v>27/01 15h</c:v>
                  </c:pt>
                  <c:pt idx="7">
                    <c:v>27/01 19h</c:v>
                  </c:pt>
                  <c:pt idx="8">
                    <c:v>27/01 23h</c:v>
                  </c:pt>
                  <c:pt idx="9">
                    <c:v>28/01 03h</c:v>
                  </c:pt>
                  <c:pt idx="10">
                    <c:v>28/01 07h</c:v>
                  </c:pt>
                  <c:pt idx="11">
                    <c:v>28/01 11h</c:v>
                  </c:pt>
                  <c:pt idx="12">
                    <c:v>28/01 15h</c:v>
                  </c:pt>
                  <c:pt idx="13">
                    <c:v>28/01 19h</c:v>
                  </c:pt>
                  <c:pt idx="14">
                    <c:v>28/01 23h</c:v>
                  </c:pt>
                  <c:pt idx="15">
                    <c:v>29/01 03h</c:v>
                  </c:pt>
                  <c:pt idx="16">
                    <c:v>29/01 07h</c:v>
                  </c:pt>
                  <c:pt idx="17">
                    <c:v>29/01 11h</c:v>
                  </c:pt>
                  <c:pt idx="18">
                    <c:v>29/01 15h</c:v>
                  </c:pt>
                  <c:pt idx="19">
                    <c:v>29/01 19h</c:v>
                  </c:pt>
                  <c:pt idx="20">
                    <c:v>29/01 23h</c:v>
                  </c:pt>
                  <c:pt idx="21">
                    <c:v>30/01 03h</c:v>
                  </c:pt>
                  <c:pt idx="22">
                    <c:v>30/01 07h</c:v>
                  </c:pt>
                  <c:pt idx="23">
                    <c:v>30/01 11h</c:v>
                  </c:pt>
                  <c:pt idx="24">
                    <c:v>30/01 15h</c:v>
                  </c:pt>
                  <c:pt idx="25">
                    <c:v>30/01 19h</c:v>
                  </c:pt>
                  <c:pt idx="26">
                    <c:v>30/01 23h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29472</c:v>
                </c:pt>
                <c:pt idx="1">
                  <c:v>27496</c:v>
                </c:pt>
                <c:pt idx="2">
                  <c:v>34275</c:v>
                </c:pt>
                <c:pt idx="3">
                  <c:v>40531</c:v>
                </c:pt>
                <c:pt idx="4">
                  <c:v>44257</c:v>
                </c:pt>
                <c:pt idx="5">
                  <c:v>35416</c:v>
                </c:pt>
                <c:pt idx="6">
                  <c:v>28048</c:v>
                </c:pt>
                <c:pt idx="7">
                  <c:v>25769</c:v>
                </c:pt>
                <c:pt idx="8">
                  <c:v>32875</c:v>
                </c:pt>
                <c:pt idx="9">
                  <c:v>41783</c:v>
                </c:pt>
                <c:pt idx="10">
                  <c:v>42787</c:v>
                </c:pt>
                <c:pt idx="11">
                  <c:v>36926</c:v>
                </c:pt>
                <c:pt idx="12">
                  <c:v>28800</c:v>
                </c:pt>
                <c:pt idx="13">
                  <c:v>28777</c:v>
                </c:pt>
                <c:pt idx="14">
                  <c:v>30856</c:v>
                </c:pt>
                <c:pt idx="15">
                  <c:v>39879</c:v>
                </c:pt>
                <c:pt idx="16">
                  <c:v>43999</c:v>
                </c:pt>
                <c:pt idx="17">
                  <c:v>37560</c:v>
                </c:pt>
                <c:pt idx="18">
                  <c:v>28968</c:v>
                </c:pt>
                <c:pt idx="19">
                  <c:v>28432</c:v>
                </c:pt>
                <c:pt idx="20">
                  <c:v>32620</c:v>
                </c:pt>
                <c:pt idx="21">
                  <c:v>40472</c:v>
                </c:pt>
                <c:pt idx="22">
                  <c:v>41319</c:v>
                </c:pt>
                <c:pt idx="23">
                  <c:v>38825</c:v>
                </c:pt>
                <c:pt idx="24">
                  <c:v>29246</c:v>
                </c:pt>
                <c:pt idx="25">
                  <c:v>28376</c:v>
                </c:pt>
                <c:pt idx="26">
                  <c:v>32873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Prédit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26/01 15h</c:v>
                  </c:pt>
                  <c:pt idx="1">
                    <c:v>26/01 19h</c:v>
                  </c:pt>
                  <c:pt idx="2">
                    <c:v>26/01 23h</c:v>
                  </c:pt>
                  <c:pt idx="3">
                    <c:v>27/01 03h</c:v>
                  </c:pt>
                  <c:pt idx="4">
                    <c:v>27/01 07h</c:v>
                  </c:pt>
                  <c:pt idx="5">
                    <c:v>27/01 11h</c:v>
                  </c:pt>
                  <c:pt idx="6">
                    <c:v>27/01 15h</c:v>
                  </c:pt>
                  <c:pt idx="7">
                    <c:v>27/01 19h</c:v>
                  </c:pt>
                  <c:pt idx="8">
                    <c:v>27/01 23h</c:v>
                  </c:pt>
                  <c:pt idx="9">
                    <c:v>28/01 03h</c:v>
                  </c:pt>
                  <c:pt idx="10">
                    <c:v>28/01 07h</c:v>
                  </c:pt>
                  <c:pt idx="11">
                    <c:v>28/01 11h</c:v>
                  </c:pt>
                  <c:pt idx="12">
                    <c:v>28/01 15h</c:v>
                  </c:pt>
                  <c:pt idx="13">
                    <c:v>28/01 19h</c:v>
                  </c:pt>
                  <c:pt idx="14">
                    <c:v>28/01 23h</c:v>
                  </c:pt>
                  <c:pt idx="15">
                    <c:v>29/01 03h</c:v>
                  </c:pt>
                  <c:pt idx="16">
                    <c:v>29/01 07h</c:v>
                  </c:pt>
                  <c:pt idx="17">
                    <c:v>29/01 11h</c:v>
                  </c:pt>
                  <c:pt idx="18">
                    <c:v>29/01 15h</c:v>
                  </c:pt>
                  <c:pt idx="19">
                    <c:v>29/01 19h</c:v>
                  </c:pt>
                  <c:pt idx="20">
                    <c:v>29/01 23h</c:v>
                  </c:pt>
                  <c:pt idx="21">
                    <c:v>30/01 03h</c:v>
                  </c:pt>
                  <c:pt idx="22">
                    <c:v>30/01 07h</c:v>
                  </c:pt>
                  <c:pt idx="23">
                    <c:v>30/01 11h</c:v>
                  </c:pt>
                  <c:pt idx="24">
                    <c:v>30/01 15h</c:v>
                  </c:pt>
                  <c:pt idx="25">
                    <c:v>30/01 19h</c:v>
                  </c:pt>
                  <c:pt idx="26">
                    <c:v>30/01 23h</c:v>
                  </c:pt>
                </c:lvl>
              </c:multiLvlStrCache>
            </c:multiLvl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30206</c:v>
                </c:pt>
                <c:pt idx="1">
                  <c:v>27262</c:v>
                </c:pt>
                <c:pt idx="2">
                  <c:v>34093</c:v>
                </c:pt>
                <c:pt idx="3">
                  <c:v>41014</c:v>
                </c:pt>
                <c:pt idx="4">
                  <c:v>43366</c:v>
                </c:pt>
                <c:pt idx="5">
                  <c:v>35451</c:v>
                </c:pt>
                <c:pt idx="6">
                  <c:v>28523</c:v>
                </c:pt>
                <c:pt idx="7">
                  <c:v>26278</c:v>
                </c:pt>
                <c:pt idx="8">
                  <c:v>33703</c:v>
                </c:pt>
                <c:pt idx="9">
                  <c:v>40908</c:v>
                </c:pt>
                <c:pt idx="10">
                  <c:v>42037</c:v>
                </c:pt>
                <c:pt idx="11">
                  <c:v>36949</c:v>
                </c:pt>
                <c:pt idx="12">
                  <c:v>28684</c:v>
                </c:pt>
                <c:pt idx="13">
                  <c:v>28395</c:v>
                </c:pt>
                <c:pt idx="14">
                  <c:v>32562</c:v>
                </c:pt>
                <c:pt idx="15">
                  <c:v>39915</c:v>
                </c:pt>
                <c:pt idx="16">
                  <c:v>42344</c:v>
                </c:pt>
                <c:pt idx="17">
                  <c:v>37747</c:v>
                </c:pt>
                <c:pt idx="18">
                  <c:v>29208</c:v>
                </c:pt>
                <c:pt idx="19">
                  <c:v>28221</c:v>
                </c:pt>
                <c:pt idx="20">
                  <c:v>31771</c:v>
                </c:pt>
                <c:pt idx="21">
                  <c:v>40222</c:v>
                </c:pt>
                <c:pt idx="22">
                  <c:v>42037</c:v>
                </c:pt>
                <c:pt idx="23">
                  <c:v>38002</c:v>
                </c:pt>
                <c:pt idx="24">
                  <c:v>29010</c:v>
                </c:pt>
                <c:pt idx="25">
                  <c:v>27953</c:v>
                </c:pt>
                <c:pt idx="26">
                  <c:v>33169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A4E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48000"/>
          <c:min val="2200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A4E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0318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0CE"/>
              </a:solidFill>
              <a:effectLst/>
            </c:spPr>
          </c:dPt>
          <c:dPt>
            <c:idx val="1"/>
            <c:bubble3D val="0"/>
            <c:spPr>
              <a:solidFill>
                <a:srgbClr val="00A0DF"/>
              </a:solidFill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Nucléaire</c:v>
                </c:pt>
                <c:pt idx="1">
                  <c:v>Éolien</c:v>
                </c:pt>
                <c:pt idx="2">
                  <c:v>Hydraulique</c:v>
                </c:pt>
                <c:pt idx="3">
                  <c:v>Solaire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39984</c:v>
                </c:pt>
                <c:pt idx="1">
                  <c:v>5083</c:v>
                </c:pt>
                <c:pt idx="2">
                  <c:v>4926</c:v>
                </c:pt>
                <c:pt idx="3">
                  <c:v>326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11480"/>
            <a:ext cx="73152" cy="82296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411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804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de France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Prédiction de la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Consommation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Électrique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 End-to-End · XGBoost · 14 Départements Français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1280160" cy="292608"/>
          </a:xfrm>
          <a:prstGeom prst="rect">
            <a:avLst/>
          </a:prstGeom>
          <a:solidFill>
            <a:srgbClr val="00A0DF"/>
          </a:solidFill>
          <a:ln w="12700">
            <a:solidFill>
              <a:srgbClr val="00A0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1920240" cy="15544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70C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14400"/>
            <a:ext cx="1920240" cy="54864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24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F"/>
                </a:solidFill>
              </a:rPr>
              <a:t>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0.976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du modèle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995160" y="914400"/>
            <a:ext cx="1920240" cy="15544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70C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914400"/>
            <a:ext cx="1920240" cy="54864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024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F"/>
                </a:solidFill>
              </a:rPr>
              <a:t>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2.02%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9516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relative moy.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46320" y="2743200"/>
            <a:ext cx="1920240" cy="15544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70C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743200"/>
            <a:ext cx="1920240" cy="54864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852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F"/>
                </a:solidFill>
              </a:rPr>
              <a:t>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703 MW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84632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absolue moy.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95160" y="2743200"/>
            <a:ext cx="1920240" cy="15544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70C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95160" y="2743200"/>
            <a:ext cx="1920240" cy="54864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2852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F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720 pts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 2025 – Janv 2026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99262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A4E5"/>
                </a:solidFill>
              </a:rPr>
              <a:t>Machine Learning · Météo-France + RTE eCO2mix · XGBoost Gradient Boosting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A4E5"/>
                </a:solidFill>
              </a:rPr>
              <a:t>Slide 2 /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31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Défi de l'Équilibre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031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Énergétique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64008" cy="64008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007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Demande Variable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56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consommation française varie de 25 000 à 45 000+ MW selon l'heure, la météo et le calendrier.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95728"/>
            <a:ext cx="64008" cy="64008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Température Critique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06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 -0.985 entre température et conso. Chaque degré de moins = hausse significative.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45536"/>
            <a:ext cx="64008" cy="64008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Signal TEMPO RTE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jours (BLEU/BLANC/ROUGE) encodant le niveau de stress du réseau électrique.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95344"/>
            <a:ext cx="64008" cy="64008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Enjeu Opérationnel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fiables = meilleur équilibrage réseau, scheduling des ENR, gestion des pics.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77724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Horaire Observée (Jan 2026)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663440" y="1234440"/>
          <a:ext cx="3931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99262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A4E5"/>
                </a:solidFill>
              </a:rPr>
              <a:t>Source: RTE eCO2mix · Météo-France · 14 départements · 2025–2026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PIPELINE 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A4E5"/>
                </a:solidFill>
              </a:rPr>
              <a:t>Slide 3 /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554480" cy="3474720"/>
          </a:xfrm>
          <a:prstGeom prst="rect">
            <a:avLst/>
          </a:prstGeom>
          <a:solidFill>
            <a:srgbClr val="003189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Météo-France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 eCO2mix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37360" y="2286000"/>
            <a:ext cx="22860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1965960" y="777240"/>
            <a:ext cx="1554480" cy="3474720"/>
          </a:xfrm>
          <a:prstGeom prst="rect">
            <a:avLst/>
          </a:prstGeom>
          <a:solidFill>
            <a:srgbClr val="0070CE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6596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245 280 lignes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20440" y="2286000"/>
            <a:ext cx="22860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777240"/>
            <a:ext cx="1554480" cy="3474720"/>
          </a:xfrm>
          <a:prstGeom prst="rect">
            <a:avLst/>
          </a:prstGeom>
          <a:solidFill>
            <a:srgbClr val="00A0D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4904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4904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features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0" y="2286000"/>
            <a:ext cx="22860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5532120" y="777240"/>
            <a:ext cx="1554480" cy="3474720"/>
          </a:xfrm>
          <a:prstGeom prst="rect">
            <a:avLst/>
          </a:prstGeom>
          <a:solidFill>
            <a:srgbClr val="0070CE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3212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86600" y="2286000"/>
            <a:ext cx="22860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777240"/>
            <a:ext cx="1554480" cy="347472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1280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1520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Parquet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4389120"/>
            <a:ext cx="8686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434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14 fichiers CSV Météo-France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075688" y="4434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720 jours × 43 features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31336" y="4434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43 features ingénierées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86984" y="4434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Split: Train 50% · Val 21% · Test 29%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42632" y="44348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XGBoost · max_depth=6 · lr=0.1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99262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A4E5"/>
                </a:solidFill>
              </a:rPr>
              <a:t>5 modules Python · scripts/data_pipeline.py · scripts/modeling.py · scripts/feature_engineering.py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IMPORTANCE — TOP 10 PRÉDICTEURS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A4E5"/>
                </a:solidFill>
              </a:rPr>
              <a:t>Slide 4 /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212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feature_importanc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77240"/>
            <a:ext cx="512064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82296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822960"/>
            <a:ext cx="73152" cy="86868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8778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18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53.4%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784848" y="8778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du jour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12984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L'heure est le 1er prédicteur — pics matin/soir bien capturés.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77840" y="182880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828800"/>
            <a:ext cx="73152" cy="868680"/>
          </a:xfrm>
          <a:prstGeom prst="rect">
            <a:avLst/>
          </a:prstGeom>
          <a:solidFill>
            <a:srgbClr val="0070CE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0" y="18836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30.3%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784848" y="1883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23042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-0.985 avec la conso. Froid = forte hausse.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77840" y="283464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834640"/>
            <a:ext cx="73152" cy="868680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9" name="Text 16"/>
          <p:cNvSpPr/>
          <p:nvPr/>
        </p:nvSpPr>
        <p:spPr>
          <a:xfrm>
            <a:off x="5760720" y="28895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0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13.0%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784848" y="2889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24 heures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3101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 d'hier prédit efficacement celle d'aujourd'hui.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77840" y="384048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3840480"/>
            <a:ext cx="73152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Text 21"/>
          <p:cNvSpPr/>
          <p:nvPr/>
        </p:nvSpPr>
        <p:spPr>
          <a:xfrm>
            <a:off x="5760720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784848" y="3895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features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60720" y="4315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Humidité, production renouvelable, features calendaires.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99262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A4E5"/>
                </a:solidFill>
              </a:rPr>
              <a:t>43 features · Temporelles · Calendaires · Lags · Moyennes mobiles · Interactions · Encodage cyclique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PERFORMANCES DU MODÈLE XGBOOST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A4E5"/>
                </a:solidFill>
              </a:rPr>
              <a:t>Slide 5 /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1508760"/>
          </a:xfrm>
          <a:prstGeom prst="rect">
            <a:avLst/>
          </a:prstGeom>
          <a:solidFill>
            <a:srgbClr val="003189"/>
          </a:solidFill>
          <a:ln w="12700">
            <a:solidFill>
              <a:srgbClr val="00A0D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20240" cy="54864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0D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0.976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892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expliquée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1920240" cy="1508760"/>
          </a:xfrm>
          <a:prstGeom prst="rect">
            <a:avLst/>
          </a:prstGeom>
          <a:solidFill>
            <a:srgbClr val="003189"/>
          </a:solidFill>
          <a:ln w="12700">
            <a:solidFill>
              <a:srgbClr val="0070C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22960"/>
            <a:ext cx="1920240" cy="54864"/>
          </a:xfrm>
          <a:prstGeom prst="rect">
            <a:avLst/>
          </a:prstGeom>
          <a:solidFill>
            <a:srgbClr val="0070CE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703 MW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Global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892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absolue moy.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26864" y="822960"/>
            <a:ext cx="1920240" cy="1508760"/>
          </a:xfrm>
          <a:prstGeom prst="rect">
            <a:avLst/>
          </a:prstGeom>
          <a:solidFill>
            <a:srgbClr val="003189"/>
          </a:solidFill>
          <a:ln w="12700">
            <a:solidFill>
              <a:srgbClr val="5BA4E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22960"/>
            <a:ext cx="1920240" cy="54864"/>
          </a:xfrm>
          <a:prstGeom prst="rect">
            <a:avLst/>
          </a:prstGeom>
          <a:solidFill>
            <a:srgbClr val="5BA4E5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A4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901 MW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Global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892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quadratique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822960"/>
            <a:ext cx="1920240" cy="1508760"/>
          </a:xfrm>
          <a:prstGeom prst="rect">
            <a:avLst/>
          </a:prstGeom>
          <a:solidFill>
            <a:srgbClr val="00318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82296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2.02%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Global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892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relative moy.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560320"/>
            <a:ext cx="8595360" cy="2331720"/>
          </a:xfrm>
          <a:prstGeom prst="rect">
            <a:avLst/>
          </a:prstGeom>
          <a:solidFill>
            <a:srgbClr val="003189"/>
          </a:solidFill>
          <a:ln w="12700">
            <a:solidFill>
              <a:srgbClr val="0070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33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vs Prédit — Consommation (MWh) — Jan 2026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834640"/>
          <a:ext cx="85953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99262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A4E5"/>
                </a:solidFill>
              </a:rPr>
              <a:t>Test set: 26–30 janvier 2026 · Split temporel strict · Aucune fuite de données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MIX ÉNERGÉTIQUE &amp; CORRÉLATIONS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0" y="201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A4E5"/>
                </a:solidFill>
              </a:rPr>
              <a:t>Slide 6 /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 Production Moyen (Jan 2026)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51560"/>
          <a:ext cx="4297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Clés du Dataset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411480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914400"/>
              </a:tblGrid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Conso. moyenne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34 990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Conso. max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45 573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Conso.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25 421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Nucléaire moy.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39 984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Éolien moy.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Hydraulique moy.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4 926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Solaire moy.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moyen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g/kWh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moy.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408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Corr. Temp–Conso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99262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A4E5"/>
                </a:solidFill>
              </a:rPr>
              <a:t>Source: RTE eCO2mix · 730 lignes · Aggrégation journalière des données horaires Météo-France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318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Modèle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Opérationnel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01168" cy="201168"/>
          </a:xfrm>
          <a:prstGeom prst="rect">
            <a:avLst/>
          </a:prstGeom>
          <a:solidFill>
            <a:srgbClr val="00A0DF"/>
          </a:solidFill>
          <a:ln w="12700">
            <a:solidFill>
              <a:srgbClr val="00A0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0.976 : modèle explique 97.6% de la variance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201168" cy="201168"/>
          </a:xfrm>
          <a:prstGeom prst="rect">
            <a:avLst/>
          </a:prstGeom>
          <a:solidFill>
            <a:srgbClr val="00A0DF"/>
          </a:solidFill>
          <a:ln w="12700">
            <a:solidFill>
              <a:srgbClr val="00A0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2.02% : erreur relative très faible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201168" cy="201168"/>
          </a:xfrm>
          <a:prstGeom prst="rect">
            <a:avLst/>
          </a:prstGeom>
          <a:solidFill>
            <a:srgbClr val="00A0DF"/>
          </a:solidFill>
          <a:ln w="12700">
            <a:solidFill>
              <a:srgbClr val="00A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 strict : pas de data leakage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201168" cy="201168"/>
          </a:xfrm>
          <a:prstGeom prst="rect">
            <a:avLst/>
          </a:prstGeom>
          <a:solidFill>
            <a:srgbClr val="00A0DF"/>
          </a:solidFill>
          <a:ln w="12700">
            <a:solidFill>
              <a:srgbClr val="00A0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39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features ingénierées sur données réelles RTE + MF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201168" cy="201168"/>
          </a:xfrm>
          <a:prstGeom prst="rect">
            <a:avLst/>
          </a:prstGeom>
          <a:solidFill>
            <a:srgbClr val="00A0DF"/>
          </a:solidFill>
          <a:ln w="12700">
            <a:solidFill>
              <a:srgbClr val="00A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15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modulaire prêt pour API FastAPI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023360" cy="713232"/>
          </a:xfrm>
          <a:prstGeom prst="rect">
            <a:avLst/>
          </a:prstGeom>
          <a:solidFill>
            <a:srgbClr val="003189"/>
          </a:solidFill>
          <a:ln w="12700">
            <a:solidFill>
              <a:srgbClr val="00A0D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411480" cy="713232"/>
          </a:xfrm>
          <a:prstGeom prst="rect">
            <a:avLst/>
          </a:prstGeom>
          <a:solidFill>
            <a:srgbClr val="00A0DF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82296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877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1170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REST pour servir les prédictions en temps réel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1645920"/>
            <a:ext cx="4023360" cy="713232"/>
          </a:xfrm>
          <a:prstGeom prst="rect">
            <a:avLst/>
          </a:prstGeom>
          <a:solidFill>
            <a:srgbClr val="003189"/>
          </a:solidFill>
          <a:ln w="12700">
            <a:solidFill>
              <a:srgbClr val="0070C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645920"/>
            <a:ext cx="411480" cy="713232"/>
          </a:xfrm>
          <a:prstGeom prst="rect">
            <a:avLst/>
          </a:prstGeom>
          <a:solidFill>
            <a:srgbClr val="0070CE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64592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57800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Optuna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d'hyperparamètres XGBoost + LightGBM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4023360" cy="713232"/>
          </a:xfrm>
          <a:prstGeom prst="rect">
            <a:avLst/>
          </a:prstGeom>
          <a:solidFill>
            <a:srgbClr val="003189"/>
          </a:solidFill>
          <a:ln w="12700">
            <a:solidFill>
              <a:srgbClr val="5BA4E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468880"/>
            <a:ext cx="411480" cy="713232"/>
          </a:xfrm>
          <a:prstGeom prst="rect">
            <a:avLst/>
          </a:prstGeom>
          <a:solidFill>
            <a:srgbClr val="5BA4E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4688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57800" y="2523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Horaire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816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l'agrégation journalière par un pipeline heure par heure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3291840"/>
            <a:ext cx="4023360" cy="713232"/>
          </a:xfrm>
          <a:prstGeom prst="rect">
            <a:avLst/>
          </a:prstGeom>
          <a:solidFill>
            <a:srgbClr val="003189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291840"/>
            <a:ext cx="411480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29184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3346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Conso. RTE Réelle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'Consommation (MW)' au lieu des multiplicateurs TEMPO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4023360" cy="713232"/>
          </a:xfrm>
          <a:prstGeom prst="rect">
            <a:avLst/>
          </a:prstGeom>
          <a:solidFill>
            <a:srgbClr val="003189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114800"/>
            <a:ext cx="41148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11480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57800" y="4169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Auto-refresh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44622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A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connecté OneDrive + dashboard en live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99262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A4E5"/>
                </a:solidFill>
              </a:rPr>
              <a:t>EDF · Machine Learning Pipeline · Prédiction Consommation Électrique France · Avril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Consumption Prediction — EDF</dc:title>
  <dc:subject>PptxGenJS Presentation</dc:subject>
  <dc:creator>EDF — Machine Learning Team</dc:creator>
  <cp:lastModifiedBy>EDF — Machine Learning Team</cp:lastModifiedBy>
  <cp:revision>1</cp:revision>
  <dcterms:created xsi:type="dcterms:W3CDTF">2026-04-21T20:41:24Z</dcterms:created>
  <dcterms:modified xsi:type="dcterms:W3CDTF">2026-04-21T20:41:24Z</dcterms:modified>
</cp:coreProperties>
</file>